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70" r:id="rId7"/>
    <p:sldId id="262" r:id="rId8"/>
    <p:sldId id="263" r:id="rId9"/>
    <p:sldId id="265" r:id="rId10"/>
    <p:sldId id="267" r:id="rId11"/>
    <p:sldId id="272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ACE2-9EA3-678E-BD1F-6B44C105C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51AFE-527E-475D-B0A2-93EB9A807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09542-0898-70DE-C32C-FB31A259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1881-BD4A-849B-1286-61CD24060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BB165-CB90-40EE-141D-107ABD15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8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0722-B3EF-D02E-0639-A6226F46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89509-56B7-44FB-5DC7-C9FC8159C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D353A-9322-F65D-4FC9-CEB62C01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E9188-C4A4-5D92-8B5D-65692CDF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6EC57-CC7C-83CA-5A05-8DCBA2D9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52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01C51-3858-3350-B2A3-CC851A0D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FC40E-981E-C75D-52AF-63AA12D1D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7588B-AF75-B96C-6B75-24525C337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EFC10-1CE0-2C8D-B3F9-78CE72E66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92F3-E6D8-2D67-458E-D75D324A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7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71230-F377-7483-A640-65E84762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28CCC-946C-BD97-9042-85D6AF797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ECBC1-B830-4563-4356-2037CC7EE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C63D0-8B9A-841A-300F-2951B8EA3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5F5D6-309A-860E-08CD-D24383645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51A92-56EC-BC69-339B-4AC620F3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1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B061-157E-3A89-00BE-195E96AE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60476-F78A-6CD5-9281-3814D44B8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183EA-086B-6D2B-0121-8B752ED4A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5F278-93DA-379F-62D8-4D1ACE978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4D7A2-707D-BFF1-EE59-6F2563418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255012-F917-0ED0-4CCC-4C69D5669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ACC4EC-0113-CDCE-E305-E7710BF7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205C4-4BFF-9937-1D75-0E5D1775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8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EAF3-1A78-5F2C-6F2C-7E1088140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F1941-65CB-92E3-72AE-A37DE814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592EF-642C-1754-0A08-53AC615C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7BE60-FCE8-9549-5813-159A90B3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7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65639-107D-133E-BA9B-4A07DD8A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88EFA-E08F-F496-B7E2-50A5F8D5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5819B-7272-BB53-9E35-A973F7FE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1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C392-C79F-841D-C81D-6199045C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683CF-3157-579C-1E29-0C428A7CF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BFFEA-FDD9-0061-AE29-20300FC95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61B3F-EE53-41C5-DA93-B185D5BE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BCBC-6E1C-7BAC-0C7A-BEFBFCA5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0615E-989A-CB5E-026B-97F0EC0E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2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6B47E-F0EB-1D21-1F19-C2A1CA63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6F491C-94E3-5D3A-0F6A-D234C3398D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58826-BB55-FC26-F1AA-A8753AAB7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E601D-8AB0-2814-1D1C-144E9C3D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664FA-4042-2FD4-D56F-964F7E68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AA72C-FEF2-F01F-0901-5154C8DE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36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BCDFC-D2C6-185F-6934-D00FA893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7F4E5-614B-ADB7-0EDD-DACF6608E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4F030-72DF-A280-7D39-A70CA455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C0131-5521-D2D7-67C1-F5B945C1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2AB13-8661-F9B8-517C-1DFB9042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81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CDE192-5FE4-0809-E1BA-73B151991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D7987-257D-37FE-56F7-CDDED9138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0253A-3928-3B12-ADFA-E2ECA385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58907-F124-B531-C9C0-48CB9161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7705B-45C4-F2DB-7703-0CF1BE56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9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9B3EE-887A-CC12-F213-E6E6B3B7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64AC2-40E0-0825-EB39-BD5C454AA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9C7C9-FA19-5471-2C86-916916B10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C73AF-7CFE-4F92-8E08-058122FEF95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B7B55-DA40-FF16-D2AF-453ED1A76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EB8AB-1B25-A056-EF47-69A342DA77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7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8794-680C-F29E-81DB-9D48A69D7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1078992"/>
            <a:ext cx="10835640" cy="1728217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Apex Minds Technologies: Human Capital &amp; Employee Compensation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4F68F-D99B-98C6-459C-CBF950A54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08376"/>
            <a:ext cx="9887712" cy="2249424"/>
          </a:xfrm>
        </p:spPr>
        <p:txBody>
          <a:bodyPr/>
          <a:lstStyle/>
          <a:p>
            <a:pPr algn="r"/>
            <a:r>
              <a:rPr lang="en-US" b="1" dirty="0"/>
              <a:t>- A Data Analytics Case Study by Anik Chakraborty</a:t>
            </a:r>
          </a:p>
        </p:txBody>
      </p:sp>
    </p:spTree>
    <p:extLst>
      <p:ext uri="{BB962C8B-B14F-4D97-AF65-F5344CB8AC3E}">
        <p14:creationId xmlns:p14="http://schemas.microsoft.com/office/powerpoint/2010/main" val="100307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25AF-7AF8-F2DB-51FA-41BCBB3C0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4440"/>
            <a:ext cx="12192000" cy="5623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To analyze employee distribution and performance metrics across departments, experience, and career levels — and uncover insights driving salary patterns and workforce structure.</a:t>
            </a:r>
          </a:p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lvl="1"/>
            <a:r>
              <a:rPr lang="en-US" sz="1500" dirty="0"/>
              <a:t>Understand workforce demographics, experience, and pay distribution.</a:t>
            </a:r>
          </a:p>
          <a:p>
            <a:pPr lvl="1"/>
            <a:r>
              <a:rPr lang="en-US" sz="1500" dirty="0"/>
              <a:t>Identify key factors influencing salary and performance ratings.</a:t>
            </a:r>
          </a:p>
          <a:p>
            <a:pPr lvl="1"/>
            <a:r>
              <a:rPr lang="en-US" sz="1500" dirty="0"/>
              <a:t>Support HR and management in workforce planning and compensation decisions.</a:t>
            </a:r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Employees:</a:t>
            </a:r>
            <a:r>
              <a:rPr lang="en-US" sz="1500" dirty="0"/>
              <a:t> 372</a:t>
            </a:r>
          </a:p>
          <a:p>
            <a:pPr lvl="1"/>
            <a:r>
              <a:rPr lang="en-US" sz="1500" b="1" dirty="0"/>
              <a:t>Total Departments:</a:t>
            </a:r>
            <a:r>
              <a:rPr lang="en-US" sz="1500" dirty="0"/>
              <a:t> 8</a:t>
            </a:r>
          </a:p>
          <a:p>
            <a:pPr lvl="1"/>
            <a:r>
              <a:rPr lang="en-US" sz="1500" b="1" dirty="0"/>
              <a:t>Average Age:</a:t>
            </a:r>
            <a:r>
              <a:rPr lang="en-US" sz="1500" dirty="0"/>
              <a:t> 38.2 yrs</a:t>
            </a:r>
          </a:p>
          <a:p>
            <a:pPr lvl="1"/>
            <a:r>
              <a:rPr lang="en-US" sz="1500" b="1" dirty="0"/>
              <a:t>Average Experience:</a:t>
            </a:r>
            <a:r>
              <a:rPr lang="en-US" sz="1500" dirty="0"/>
              <a:t> 11.6 yrs</a:t>
            </a:r>
          </a:p>
          <a:p>
            <a:pPr lvl="1"/>
            <a:r>
              <a:rPr lang="en-US" sz="1500" b="1" dirty="0"/>
              <a:t>Average Salary:</a:t>
            </a:r>
            <a:r>
              <a:rPr lang="en-US" sz="1500" dirty="0"/>
              <a:t> 3.12M</a:t>
            </a:r>
          </a:p>
          <a:p>
            <a:pPr lvl="1"/>
            <a:r>
              <a:rPr lang="en-US" sz="1500" b="1" dirty="0"/>
              <a:t>Total Salary Expense:</a:t>
            </a:r>
            <a:r>
              <a:rPr lang="en-US" sz="1500" dirty="0"/>
              <a:t> 1Bn</a:t>
            </a:r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dirty="0"/>
              <a:t>Interactive Power BI dashboards with:</a:t>
            </a:r>
          </a:p>
          <a:p>
            <a:pPr lvl="2"/>
            <a:r>
              <a:rPr lang="en-US" sz="1500" dirty="0"/>
              <a:t>Headcount &amp; Distribution Analysis</a:t>
            </a:r>
          </a:p>
          <a:p>
            <a:pPr lvl="2"/>
            <a:r>
              <a:rPr lang="en-US" sz="1500" dirty="0"/>
              <a:t>Salary &amp; Performance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E90C6A-AF39-274F-398C-2D18377F9A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240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🎯 Objective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0716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3E66B-DE5F-0498-3F68-A16BB3A6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16736"/>
            <a:ext cx="12192000" cy="5541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Context Highlights: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 err="1"/>
              <a:t>ApexMinds</a:t>
            </a:r>
            <a:r>
              <a:rPr lang="en-US" sz="1500" dirty="0"/>
              <a:t> Technologies Pvt. Ltd. is a growing tech enterprise with a diverse employee base across multiple departments such as R&amp;D, Finance, Sales, Operations, and HR.</a:t>
            </a:r>
            <a:br>
              <a:rPr lang="en-US" sz="1500" dirty="0"/>
            </a:br>
            <a:r>
              <a:rPr lang="en-US" sz="1500" dirty="0"/>
              <a:t>The organization sought to build a data-driven understanding of its workforce distribution, experience composition, and salary dynamics to support strategic HR decisions.</a:t>
            </a:r>
          </a:p>
          <a:p>
            <a:pPr lvl="1"/>
            <a:r>
              <a:rPr lang="en-US" sz="1500" dirty="0"/>
              <a:t>This project leverages </a:t>
            </a:r>
            <a:r>
              <a:rPr lang="en-US" sz="1500" b="1" dirty="0"/>
              <a:t>Power BI</a:t>
            </a:r>
            <a:r>
              <a:rPr lang="en-US" sz="1500" dirty="0"/>
              <a:t> to visualize and analyze employee data holistically—enabling the management team to track headcount trends, salary distribution, and performance alignment.</a:t>
            </a:r>
            <a:br>
              <a:rPr lang="en-US" sz="1500" dirty="0"/>
            </a:br>
            <a:r>
              <a:rPr lang="en-US" sz="1500" dirty="0"/>
              <a:t>By transforming raw employee records into actionable insights, the analysis provides a 360° view of how factors like </a:t>
            </a:r>
            <a:r>
              <a:rPr lang="en-US" sz="1500" b="1" dirty="0"/>
              <a:t>experience, rating, career level, and department</a:t>
            </a:r>
            <a:r>
              <a:rPr lang="en-US" sz="1500" dirty="0"/>
              <a:t> influence compensation and workforce balance.</a:t>
            </a:r>
          </a:p>
          <a:p>
            <a:pPr lvl="1"/>
            <a:r>
              <a:rPr lang="en-US" sz="1500" dirty="0"/>
              <a:t>The dashboards are designed to:</a:t>
            </a:r>
          </a:p>
          <a:p>
            <a:pPr lvl="2"/>
            <a:r>
              <a:rPr lang="en-US" sz="1500" dirty="0"/>
              <a:t>Improve transparency in HR and salary-related analytics.</a:t>
            </a:r>
          </a:p>
          <a:p>
            <a:pPr lvl="2"/>
            <a:r>
              <a:rPr lang="en-US" sz="1500" dirty="0"/>
              <a:t>Support fair pay structures and promotion planning.</a:t>
            </a:r>
          </a:p>
          <a:p>
            <a:pPr lvl="2"/>
            <a:r>
              <a:rPr lang="en-US" sz="1500" dirty="0"/>
              <a:t>Enable better resource allocation across departments.</a:t>
            </a:r>
          </a:p>
          <a:p>
            <a:pPr lvl="2"/>
            <a:r>
              <a:rPr lang="en-US" sz="1500" dirty="0"/>
              <a:t>Serve as a baseline for future workforce forecasting and talent strategy.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F7260A-BA3D-20B4-CEB9-5AC754BBF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60797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📘 Project Overview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2410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1269-EC57-F701-D3C6-0AAA5E47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06656" cy="978407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🗂️ 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37DE5-E6C6-EB4C-6969-687315349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3584"/>
            <a:ext cx="12192000" cy="56144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Fictionalized Human Resource Management dataset </a:t>
            </a:r>
            <a:r>
              <a:rPr lang="en-US" sz="1600" dirty="0"/>
              <a:t>(inspired by open educational datasets).</a:t>
            </a:r>
            <a:endParaRPr lang="en-US" sz="1500" dirty="0"/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Structured employee master records with demographic and job details.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Snapshot of workforce data for a specific financial year.</a:t>
            </a:r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Type:</a:t>
            </a:r>
            <a:r>
              <a:rPr lang="en-US" sz="1500" dirty="0"/>
              <a:t> Employee ID (unique identifier for all records).</a:t>
            </a:r>
          </a:p>
          <a:p>
            <a:pPr lvl="1"/>
            <a:r>
              <a:rPr lang="en-US" sz="1500" b="1" dirty="0"/>
              <a:t>Total Rows:</a:t>
            </a:r>
            <a:r>
              <a:rPr lang="en-US" sz="1500" dirty="0"/>
              <a:t> ~372 Employees across 8 Departments.</a:t>
            </a:r>
          </a:p>
          <a:p>
            <a:pPr lvl="1"/>
            <a:r>
              <a:rPr lang="en-US" sz="1500" b="1" dirty="0"/>
              <a:t>Categories:</a:t>
            </a:r>
            <a:r>
              <a:rPr lang="en-US" sz="1500" dirty="0"/>
              <a:t> 15+ columns grouped under the following:</a:t>
            </a:r>
          </a:p>
          <a:p>
            <a:pPr lvl="2"/>
            <a:r>
              <a:rPr lang="en-US" sz="1500" b="1" dirty="0"/>
              <a:t>Demographics:</a:t>
            </a:r>
            <a:r>
              <a:rPr lang="en-US" sz="1500" dirty="0"/>
              <a:t> Age, Gender, Joining Year</a:t>
            </a:r>
          </a:p>
          <a:p>
            <a:pPr lvl="2"/>
            <a:r>
              <a:rPr lang="en-US" sz="1500" b="1" dirty="0"/>
              <a:t>Employment Details:</a:t>
            </a:r>
            <a:r>
              <a:rPr lang="en-US" sz="1500" dirty="0"/>
              <a:t> Department Code, Rating, Experience (Years), Career Level</a:t>
            </a:r>
          </a:p>
          <a:p>
            <a:pPr lvl="2"/>
            <a:r>
              <a:rPr lang="en-US" sz="1500" b="1" dirty="0"/>
              <a:t>Compensation Data:</a:t>
            </a:r>
            <a:r>
              <a:rPr lang="en-US" sz="1500" dirty="0"/>
              <a:t> Salary, Pay Scale</a:t>
            </a:r>
          </a:p>
          <a:p>
            <a:pPr lvl="2"/>
            <a:r>
              <a:rPr lang="en-US" sz="1500" b="1" dirty="0"/>
              <a:t>Derived Columns (Calculated):</a:t>
            </a:r>
            <a:endParaRPr lang="en-US" sz="1500" dirty="0"/>
          </a:p>
          <a:p>
            <a:pPr lvl="3"/>
            <a:r>
              <a:rPr lang="en-US" sz="1500" i="1" dirty="0"/>
              <a:t>Career Level Hierarchy</a:t>
            </a:r>
            <a:r>
              <a:rPr lang="en-US" sz="1500" dirty="0"/>
              <a:t> (Young Talent → Senior Professional)</a:t>
            </a:r>
          </a:p>
          <a:p>
            <a:pPr lvl="3"/>
            <a:r>
              <a:rPr lang="en-US" sz="1500" i="1" dirty="0"/>
              <a:t>Age Group</a:t>
            </a:r>
            <a:r>
              <a:rPr lang="en-US" sz="1500" dirty="0"/>
              <a:t> (19–28, 29–38, 39–48, 49+)</a:t>
            </a:r>
          </a:p>
          <a:p>
            <a:pPr lvl="3"/>
            <a:r>
              <a:rPr lang="en-US" sz="1500" i="1" dirty="0"/>
              <a:t>Experience Buckets</a:t>
            </a:r>
            <a:r>
              <a:rPr lang="en-US" sz="1500" dirty="0"/>
              <a:t> (0–5, 6–10, etc.)</a:t>
            </a:r>
          </a:p>
          <a:p>
            <a:pPr lvl="1"/>
            <a:r>
              <a:rPr lang="en-US" sz="1500" b="1" dirty="0"/>
              <a:t>Calculated Metrics (via DAX):</a:t>
            </a:r>
            <a:endParaRPr lang="en-US" sz="1500" dirty="0"/>
          </a:p>
          <a:p>
            <a:pPr lvl="2"/>
            <a:r>
              <a:rPr lang="en-US" sz="1500" dirty="0"/>
              <a:t>Average, Median, Min, Max Salary</a:t>
            </a:r>
          </a:p>
          <a:p>
            <a:pPr lvl="2"/>
            <a:r>
              <a:rPr lang="en-US" sz="1500" dirty="0"/>
              <a:t>Total Salary Expense by Department, Rating, and Experience</a:t>
            </a:r>
          </a:p>
          <a:p>
            <a:pPr lvl="2"/>
            <a:r>
              <a:rPr lang="en-US" sz="1500" dirty="0"/>
              <a:t>Employee Count per Segment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19400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EE174-4BE7-55F6-4451-D616B003E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9616"/>
            <a:ext cx="12192000" cy="5358384"/>
          </a:xfrm>
        </p:spPr>
        <p:txBody>
          <a:bodyPr/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</a:t>
            </a:r>
            <a:endParaRPr lang="en-US" sz="1500" dirty="0"/>
          </a:p>
          <a:p>
            <a:pPr lvl="2"/>
            <a:r>
              <a:rPr lang="en-US" sz="1500" dirty="0"/>
              <a:t>Data cleaning &amp; preprocessing</a:t>
            </a:r>
            <a:endParaRPr lang="en-US" sz="1500" b="1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ETL transformations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Visualization, DAX measures &amp; dashboard design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Calculated measures and time intelligence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D803E6-D0C2-692F-98F4-8BF9F1241F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5157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💻 Tech Stack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1657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4E6C-9FDB-71D2-3768-445BA421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042648" cy="1005839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📈 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4CDAF-F6F9-F8F5-0D60-D7324C5E9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7592"/>
            <a:ext cx="12192000" cy="55504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 Data Preparation &amp; Cleaning</a:t>
            </a:r>
          </a:p>
          <a:p>
            <a:pPr lvl="1"/>
            <a:r>
              <a:rPr lang="en-US" sz="1400" dirty="0"/>
              <a:t>Imported and validated the HR dataset in Power BI.</a:t>
            </a:r>
          </a:p>
          <a:p>
            <a:pPr lvl="1"/>
            <a:r>
              <a:rPr lang="en-US" sz="1400" dirty="0"/>
              <a:t>Checked for missing or inconsistent salary, department, and rating entries.</a:t>
            </a:r>
          </a:p>
          <a:p>
            <a:pPr lvl="1"/>
            <a:r>
              <a:rPr lang="en-US" sz="1400" dirty="0"/>
              <a:t>Ensured numeric fields (Experience, Salary) were properly typed and formatted.</a:t>
            </a:r>
          </a:p>
          <a:p>
            <a:pPr lvl="1"/>
            <a:r>
              <a:rPr lang="en-US" sz="1400" dirty="0"/>
              <a:t>Removed redundant columns and standardized categorical labels (Department Codes, Pay Scales).</a:t>
            </a:r>
          </a:p>
          <a:p>
            <a:pPr marL="0" indent="0">
              <a:buNone/>
            </a:pPr>
            <a:r>
              <a:rPr lang="en-US" sz="1400" b="1" dirty="0"/>
              <a:t>Data Modeling &amp; Integration</a:t>
            </a:r>
          </a:p>
          <a:p>
            <a:pPr lvl="1"/>
            <a:r>
              <a:rPr lang="en-US" sz="1400" dirty="0"/>
              <a:t>Defined relationships among core fields (Employee → Department → Career Level).</a:t>
            </a:r>
          </a:p>
          <a:p>
            <a:pPr lvl="1"/>
            <a:r>
              <a:rPr lang="en-US" sz="1400" dirty="0"/>
              <a:t>Added calculated columns using </a:t>
            </a:r>
            <a:r>
              <a:rPr lang="en-US" sz="1400" b="1" dirty="0"/>
              <a:t>DAX SWITCH()</a:t>
            </a:r>
            <a:r>
              <a:rPr lang="en-US" sz="1400" dirty="0"/>
              <a:t> for </a:t>
            </a:r>
            <a:r>
              <a:rPr lang="en-US" sz="1400" i="1" dirty="0"/>
              <a:t>Career Hierarchy Labeling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Created measures for Average, Median, and Total Salary across key dimensions.</a:t>
            </a:r>
          </a:p>
          <a:p>
            <a:pPr lvl="1"/>
            <a:r>
              <a:rPr lang="en-US" sz="1400" dirty="0"/>
              <a:t>Integrated slicers and hierarchies (Age, Experience, Rating, Pay Scale).</a:t>
            </a:r>
          </a:p>
          <a:p>
            <a:pPr marL="0" indent="0">
              <a:buNone/>
            </a:pPr>
            <a:r>
              <a:rPr lang="en-US" sz="1400" b="1" dirty="0"/>
              <a:t>Feature Engineering</a:t>
            </a:r>
          </a:p>
          <a:p>
            <a:pPr lvl="1"/>
            <a:r>
              <a:rPr lang="en-US" sz="1400" dirty="0"/>
              <a:t>Grouped employees into </a:t>
            </a:r>
            <a:r>
              <a:rPr lang="en-US" sz="1400" b="1" dirty="0"/>
              <a:t>Age Brackets</a:t>
            </a:r>
            <a:r>
              <a:rPr lang="en-US" sz="1400" dirty="0"/>
              <a:t> and </a:t>
            </a:r>
            <a:r>
              <a:rPr lang="en-US" sz="1400" b="1" dirty="0"/>
              <a:t>Experience Buckets</a:t>
            </a:r>
            <a:r>
              <a:rPr lang="en-US" sz="1400" dirty="0"/>
              <a:t> for trend clarity.</a:t>
            </a:r>
          </a:p>
          <a:p>
            <a:pPr lvl="1"/>
            <a:r>
              <a:rPr lang="en-US" sz="1400" dirty="0"/>
              <a:t>Derived </a:t>
            </a:r>
            <a:r>
              <a:rPr lang="en-US" sz="1400" i="1" dirty="0"/>
              <a:t>Total Salary Expense</a:t>
            </a:r>
            <a:r>
              <a:rPr lang="en-US" sz="1400" dirty="0"/>
              <a:t> and </a:t>
            </a:r>
            <a:r>
              <a:rPr lang="en-US" sz="1400" i="1" dirty="0"/>
              <a:t>Average Salary by Rating</a:t>
            </a:r>
            <a:r>
              <a:rPr lang="en-US" sz="1400" dirty="0"/>
              <a:t> metrics dynamically.</a:t>
            </a:r>
          </a:p>
          <a:p>
            <a:pPr marL="0" indent="0">
              <a:buNone/>
            </a:pPr>
            <a:r>
              <a:rPr lang="en-US" sz="1400" b="1" dirty="0"/>
              <a:t>Visualization Design</a:t>
            </a:r>
          </a:p>
          <a:p>
            <a:pPr lvl="1"/>
            <a:r>
              <a:rPr lang="en-US" sz="1400" b="1" dirty="0"/>
              <a:t>Dashboard 1 – Headcount &amp; Distribution:</a:t>
            </a:r>
            <a:r>
              <a:rPr lang="en-US" sz="1400" dirty="0"/>
              <a:t> Workforce structure, ratings, joining trends.</a:t>
            </a:r>
          </a:p>
          <a:p>
            <a:pPr lvl="1"/>
            <a:r>
              <a:rPr lang="en-US" sz="1400" b="1" dirty="0"/>
              <a:t>Dashboard 2 – Salary &amp; Performance:</a:t>
            </a:r>
            <a:r>
              <a:rPr lang="en-US" sz="1400" dirty="0"/>
              <a:t> Salary trends across experience, age, and career level.</a:t>
            </a:r>
          </a:p>
          <a:p>
            <a:pPr lvl="1"/>
            <a:r>
              <a:rPr lang="en-US" sz="1400" dirty="0"/>
              <a:t>Integrated interactive slicers for quick segmentation analysis.</a:t>
            </a:r>
          </a:p>
          <a:p>
            <a:pPr marL="0" indent="0">
              <a:buNone/>
            </a:pPr>
            <a:r>
              <a:rPr lang="en-US" sz="1400" b="1" dirty="0"/>
              <a:t>Validation &amp; Formatting</a:t>
            </a:r>
          </a:p>
          <a:p>
            <a:pPr lvl="1"/>
            <a:r>
              <a:rPr lang="en-US" sz="1400" dirty="0"/>
              <a:t>Cross-verified total employees, salary sums, and averages across visuals.</a:t>
            </a:r>
          </a:p>
          <a:p>
            <a:pPr lvl="1"/>
            <a:r>
              <a:rPr lang="en-US" sz="1400" dirty="0"/>
              <a:t>Standardized labels, axis titles,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955387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2EB8-BCD0-6001-184F-635328813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47672"/>
            <a:ext cx="12192000" cy="4910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Understanding workforce structure and pay dynamics is crucial for Apex Minds to ensure fair compensation, efficient talent utilization, and cost optimization.</a:t>
            </a:r>
            <a:br>
              <a:rPr lang="en-US" sz="1500" dirty="0"/>
            </a:br>
            <a:br>
              <a:rPr lang="en-US" sz="1500" b="1" dirty="0"/>
            </a:br>
            <a:r>
              <a:rPr lang="en-US" sz="1500" b="1" dirty="0"/>
              <a:t>Key Questions:</a:t>
            </a:r>
          </a:p>
          <a:p>
            <a:pPr lvl="1"/>
            <a:r>
              <a:rPr lang="en-US" altLang="en-US" sz="1500" dirty="0"/>
              <a:t>How is the workforce distributed across departments and career levels?</a:t>
            </a:r>
            <a:endParaRPr lang="en-US" sz="1500" dirty="0"/>
          </a:p>
          <a:p>
            <a:pPr lvl="1"/>
            <a:r>
              <a:rPr lang="en-US" sz="1500" dirty="0"/>
              <a:t>How do experience and rating impact salary outcomes?</a:t>
            </a:r>
          </a:p>
          <a:p>
            <a:pPr lvl="1"/>
            <a:r>
              <a:rPr lang="en-US" altLang="en-US" sz="1500" dirty="0"/>
              <a:t>What is the relationship between experience, age, and salary?</a:t>
            </a:r>
          </a:p>
          <a:p>
            <a:pPr lvl="1"/>
            <a:r>
              <a:rPr lang="en-US" altLang="en-US" sz="1500" dirty="0"/>
              <a:t>Which departments incur the highest total salary expense?</a:t>
            </a:r>
          </a:p>
          <a:p>
            <a:pPr lvl="1"/>
            <a:r>
              <a:rPr lang="en-US" altLang="en-US" sz="1500" dirty="0"/>
              <a:t>What is the salary growth trend across hierarchical levels?</a:t>
            </a: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3C95BF-8FBB-6C5B-2EA4-F115CFEAB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8039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❓ Problem Statement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36560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50946-148C-1D4F-41A3-28AAA6E05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6424"/>
            <a:ext cx="12192000" cy="5751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dirty="0"/>
              <a:t>Majority of workforce concentrated at </a:t>
            </a:r>
            <a:r>
              <a:rPr lang="en-US" sz="1500" b="1" dirty="0"/>
              <a:t>Senior Professional level (133 employees)</a:t>
            </a:r>
            <a:endParaRPr lang="en-US" sz="1500" dirty="0"/>
          </a:p>
          <a:p>
            <a:pPr lvl="1"/>
            <a:r>
              <a:rPr lang="en-US" sz="1500" b="1" dirty="0"/>
              <a:t>Average Salary</a:t>
            </a:r>
            <a:r>
              <a:rPr lang="en-US" sz="1500" dirty="0"/>
              <a:t> increases steadily up to Established Professional level (3.4M)</a:t>
            </a:r>
          </a:p>
          <a:p>
            <a:pPr lvl="1"/>
            <a:r>
              <a:rPr lang="en-US" sz="1500" b="1" dirty="0"/>
              <a:t>R&amp;D and Finance</a:t>
            </a:r>
            <a:r>
              <a:rPr lang="en-US" sz="1500" dirty="0"/>
              <a:t> have the highest total salary expenses</a:t>
            </a:r>
          </a:p>
          <a:p>
            <a:pPr lvl="1"/>
            <a:r>
              <a:rPr lang="en-US" sz="1500" b="1" dirty="0"/>
              <a:t>Age 29–38</a:t>
            </a:r>
            <a:r>
              <a:rPr lang="en-US" sz="1500" dirty="0"/>
              <a:t> group forms the largest segment (~28% of total employees)</a:t>
            </a:r>
          </a:p>
          <a:p>
            <a:pPr lvl="1"/>
            <a:r>
              <a:rPr lang="en-US" sz="1500" dirty="0"/>
              <a:t>Salary growth aligns closely with both </a:t>
            </a:r>
            <a:r>
              <a:rPr lang="en-US" sz="1500" b="1" dirty="0"/>
              <a:t>Experience</a:t>
            </a:r>
            <a:r>
              <a:rPr lang="en-US" sz="1500" dirty="0"/>
              <a:t> and </a:t>
            </a:r>
            <a:r>
              <a:rPr lang="en-US" sz="1500" b="1" dirty="0"/>
              <a:t>Rating</a:t>
            </a:r>
            <a:r>
              <a:rPr lang="en-US" sz="1500" dirty="0"/>
              <a:t> patterns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dirty="0"/>
              <a:t>Lowest Salary: </a:t>
            </a:r>
            <a:r>
              <a:rPr lang="en-US" sz="1500" b="1" dirty="0"/>
              <a:t>362K</a:t>
            </a:r>
            <a:r>
              <a:rPr lang="en-US" sz="1500" dirty="0"/>
              <a:t>, Highest: </a:t>
            </a:r>
            <a:r>
              <a:rPr lang="en-US" sz="1500" b="1" dirty="0"/>
              <a:t>6M</a:t>
            </a:r>
            <a:endParaRPr lang="en-US" sz="1500" dirty="0"/>
          </a:p>
          <a:p>
            <a:pPr lvl="1"/>
            <a:r>
              <a:rPr lang="en-US" sz="1500" dirty="0"/>
              <a:t>Rating-wise salary spread consistent (0.22–0.25Bn each)</a:t>
            </a:r>
          </a:p>
          <a:p>
            <a:pPr lvl="1"/>
            <a:r>
              <a:rPr lang="en-US" sz="1500" dirty="0"/>
              <a:t>Clear upward trend in total expense with experience years until 15+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AE1E22-3EA3-4772-96CB-337267D8B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💡 Key Insights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44046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719B2-18E1-0F24-3638-5802264CE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1600"/>
            <a:ext cx="1219200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500" dirty="0"/>
              <a:t>The analysis highlights Apex Minds’ balanced workforce distribution with gradual salary progression across experience and hierarchy levels.</a:t>
            </a:r>
            <a:br>
              <a:rPr lang="en-US" sz="1500" dirty="0"/>
            </a:br>
            <a:r>
              <a:rPr lang="en-US" sz="1500" dirty="0"/>
              <a:t>Insights enable HR to refine pay scale structures, recognize high-cost departments, and plan targeted upskilling and retention strategies.</a:t>
            </a:r>
            <a:endParaRPr lang="en-US" sz="1500" b="1" dirty="0"/>
          </a:p>
          <a:p>
            <a:pPr lvl="1"/>
            <a:r>
              <a:rPr lang="en-US" sz="1500" b="1" dirty="0"/>
              <a:t>Strong correlation</a:t>
            </a:r>
            <a:r>
              <a:rPr lang="en-US" sz="1500" dirty="0"/>
              <a:t> between experience and salary growth up to mid-level professionals.</a:t>
            </a:r>
          </a:p>
          <a:p>
            <a:pPr lvl="1"/>
            <a:r>
              <a:rPr lang="en-US" sz="1500" b="1" dirty="0"/>
              <a:t>R&amp;D and Finance</a:t>
            </a:r>
            <a:r>
              <a:rPr lang="en-US" sz="1500" dirty="0"/>
              <a:t> departments contribute the most to salary expenditure.</a:t>
            </a:r>
          </a:p>
          <a:p>
            <a:pPr lvl="1"/>
            <a:r>
              <a:rPr lang="en-US" sz="1500" b="1" dirty="0"/>
              <a:t>Senior Professionals</a:t>
            </a:r>
            <a:r>
              <a:rPr lang="en-US" sz="1500" dirty="0"/>
              <a:t> form the largest segment (133 employees), reflecting a matured workforce structure.</a:t>
            </a:r>
          </a:p>
          <a:p>
            <a:pPr lvl="1"/>
            <a:r>
              <a:rPr lang="en-US" sz="1500" b="1" dirty="0"/>
              <a:t>Rating-based salary variation</a:t>
            </a:r>
            <a:r>
              <a:rPr lang="en-US" sz="1500" dirty="0"/>
              <a:t> remains steady, suggesting balanced performance-linked pay.</a:t>
            </a:r>
          </a:p>
          <a:p>
            <a:pPr lvl="1"/>
            <a:r>
              <a:rPr lang="en-US" sz="1500" b="1" dirty="0"/>
              <a:t>Age group 29–38 years</a:t>
            </a:r>
            <a:r>
              <a:rPr lang="en-US" sz="1500" dirty="0"/>
              <a:t> dominates both in count and compensation level.</a:t>
            </a:r>
          </a:p>
          <a:p>
            <a:pPr lvl="1"/>
            <a:r>
              <a:rPr lang="en-US" sz="1500" dirty="0"/>
              <a:t>Overall, the dashboards empower HR leaders to make </a:t>
            </a:r>
            <a:r>
              <a:rPr lang="en-US" sz="1500" b="1" dirty="0"/>
              <a:t>data-informed decisions</a:t>
            </a:r>
            <a:r>
              <a:rPr lang="en-US" sz="1500" dirty="0"/>
              <a:t> in promotions, hiring, and budgeting — marking a significant step toward </a:t>
            </a:r>
            <a:r>
              <a:rPr lang="en-US" sz="1500" b="1" dirty="0"/>
              <a:t>analytics-driven workforce management</a:t>
            </a:r>
            <a:r>
              <a:rPr lang="en-US" sz="1500" dirty="0"/>
              <a:t>.</a:t>
            </a:r>
          </a:p>
          <a:p>
            <a:pPr lvl="1"/>
            <a:endParaRPr lang="en-US" sz="1500" dirty="0"/>
          </a:p>
          <a:p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3284DD-D2D4-36BA-EBDF-35632A3515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9737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📍 Conclusion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7197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5EF2F5-7EA2-0500-8D1A-46520F83E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880"/>
            <a:ext cx="12192000" cy="5532119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176941C-D99C-9E41-0710-4433CD450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52371"/>
            <a:ext cx="12115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🖥️ Dashboard </a:t>
            </a:r>
            <a:r>
              <a:rPr lang="en-US" altLang="en-US" sz="4000" b="1" dirty="0">
                <a:solidFill>
                  <a:srgbClr val="000000"/>
                </a:solidFill>
              </a:rPr>
              <a:t>Overv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iew (1) – Headcount &amp; Distribution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33129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45AFC-1057-CC76-821D-404C86BE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7B1D75-A1DB-AE3F-E1D1-785A35F02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0160"/>
            <a:ext cx="12192000" cy="557784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4AEF825-DBDD-B5E1-A15A-CB3944637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52370"/>
            <a:ext cx="12115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🖥️ Dashboard </a:t>
            </a:r>
            <a:r>
              <a:rPr lang="en-US" altLang="en-US" sz="4000" b="1" dirty="0">
                <a:solidFill>
                  <a:srgbClr val="000000"/>
                </a:solidFill>
              </a:rPr>
              <a:t>Overv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iew (2) – Salary &amp; Performance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9944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13E70-A163-2925-8EA7-4891B1F66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58568"/>
            <a:ext cx="12192000" cy="4599432"/>
          </a:xfrm>
        </p:spPr>
        <p:txBody>
          <a:bodyPr>
            <a:normAutofit/>
          </a:bodyPr>
          <a:lstStyle/>
          <a:p>
            <a:pPr lvl="1"/>
            <a:r>
              <a:rPr lang="en-US" sz="1500" b="1" dirty="0"/>
              <a:t>HR Planning:</a:t>
            </a:r>
            <a:r>
              <a:rPr lang="en-US" sz="1500" dirty="0"/>
              <a:t> Identify gaps in experience and career level balance.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Compensation Strategy:</a:t>
            </a:r>
            <a:r>
              <a:rPr lang="en-US" sz="1500" dirty="0"/>
              <a:t> Adjust salary structures per role hierarchy.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Performance Management:</a:t>
            </a:r>
            <a:r>
              <a:rPr lang="en-US" sz="1500" dirty="0"/>
              <a:t> Link ratings to pay equity.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Departmental Costing:</a:t>
            </a:r>
            <a:r>
              <a:rPr lang="en-US" sz="1500" dirty="0"/>
              <a:t> Track total expense per function for budgeting.</a:t>
            </a:r>
          </a:p>
          <a:p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62DEDE-7638-C351-C828-FDAB9807F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4051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49863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A6695-8D55-D21D-63E7-2EF82DE4F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320"/>
            <a:ext cx="12192000" cy="54406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502313-4D6D-0A90-03B4-11A26CEAA6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2159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🙏 Acknowledgements &amp; Contact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16256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C801BD-CEAB-A136-42C4-54A3E2249B5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349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b="1" dirty="0"/>
              <a:t>Thank You!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736871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8482</TotalTime>
  <Words>1148</Words>
  <Application>Microsoft Office PowerPoint</Application>
  <PresentationFormat>Widescreen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Apex Minds Technologies: Human Capital &amp; Employee Compensation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 </vt:lpstr>
      <vt:lpstr>💡 Key Insights</vt:lpstr>
      <vt:lpstr>📍 Conclusion</vt:lpstr>
      <vt:lpstr>🖥️ Dashboard Overview (1) – Headcount &amp; Distribution</vt:lpstr>
      <vt:lpstr>🖥️ Dashboard Overview (2) – Salary &amp; Performance</vt:lpstr>
      <vt:lpstr>✅ Business Impact &amp; Use Cases</vt:lpstr>
      <vt:lpstr>🙏 Acknowledgements &amp; Contact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20</cp:revision>
  <dcterms:created xsi:type="dcterms:W3CDTF">2025-10-10T09:43:10Z</dcterms:created>
  <dcterms:modified xsi:type="dcterms:W3CDTF">2025-12-28T15:12:29Z</dcterms:modified>
</cp:coreProperties>
</file>